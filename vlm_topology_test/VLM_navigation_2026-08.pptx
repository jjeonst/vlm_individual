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Malgun Gothic"/>
              </a:rPr>
              <a:t>동결 VLM 표현으로 실내 내비게이션이 되는가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3580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CADCFC"/>
                </a:solidFill>
                <a:latin typeface="Malgun Gothic"/>
              </a:rPr>
              <a:t>출발점과 목표를 고정한 경로에서 표현 두 가지를 나란히 비교한 실험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Malgun Gothic"/>
              </a:rPr>
              <a:t>3단계 · 고정 경로 실험</a:t>
            </a:r>
            <a:r>
              <a:rPr sz="1350" b="0" i="0">
                <a:solidFill>
                  <a:srgbClr val="7C88AC"/>
                </a:solidFill>
                <a:latin typeface="Malgun Gothic"/>
              </a:rPr>
              <a:t>      경로 24개  ·  시연 480개  ·  주행 240회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C88AC"/>
                </a:solidFill>
                <a:latin typeface="Malgun Gothic"/>
              </a:rPr>
              <a:t>2026-08   ·   저장소   vlm_topology_test/phase3_fixed_route/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28090"/>
                </a:solidFill>
                <a:latin typeface="Malgun Gothic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61"/>
                </a:solidFill>
                <a:latin typeface="Malgun Gothic"/>
              </a:rPr>
              <a:t>오늘 이야기할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B7488"/>
                </a:solidFill>
                <a:latin typeface="Malgun Gothic"/>
              </a:rPr>
              <a:t>출처  vlm_topology_test/phase3_fixed_route/experiment_results_fixed_route.md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371600"/>
            <a:ext cx="329184" cy="32918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Malgun Gothic"/>
              </a:rPr>
              <a:t>실험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371600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62E"/>
                </a:solidFill>
                <a:latin typeface="Malgun Gothic"/>
              </a:rPr>
              <a:t>고정 경로 · oracle vs VLM · 규칙 3종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38528"/>
            <a:ext cx="329184" cy="32918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38528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Malgun Gothic"/>
              </a:rPr>
              <a:t>VLM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938528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62E"/>
                </a:solidFill>
                <a:latin typeface="Malgun Gothic"/>
              </a:rPr>
              <a:t>어디서 어떤 토큰을 꺼내는가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505456"/>
            <a:ext cx="329184" cy="32918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05456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Malgun Gothic"/>
              </a:rPr>
              <a:t>실험 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505456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62E"/>
                </a:solidFill>
                <a:latin typeface="Malgun Gothic"/>
              </a:rPr>
              <a:t>성공률 · 대표 경로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72384"/>
            <a:ext cx="329184" cy="32918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072384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Malgun Gothic"/>
              </a:rPr>
              <a:t>암기 검증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072384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62E"/>
                </a:solidFill>
                <a:latin typeface="Malgun Gothic"/>
              </a:rPr>
              <a:t>관찰을 가리면 어떻게 되는가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639312"/>
            <a:ext cx="329184" cy="32918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39312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Malgun Gothic"/>
              </a:rPr>
              <a:t>성패를 가른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639312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62E"/>
                </a:solidFill>
                <a:latin typeface="Malgun Gothic"/>
              </a:rPr>
              <a:t>0.1 m 기준과 0.25 m 보폭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206240"/>
            <a:ext cx="329184" cy="32918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206240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Malgun Gothic"/>
              </a:rPr>
              <a:t>다음 단계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206240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62E"/>
                </a:solidFill>
                <a:latin typeface="Malgun Gothic"/>
              </a:rPr>
              <a:t>토큰 절제 · 경로 일반화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526280"/>
            <a:ext cx="5806440" cy="1097280"/>
          </a:xfrm>
          <a:prstGeom prst="roundRect">
            <a:avLst>
              <a:gd name="adj" fmla="val 8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718304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28090"/>
                </a:solidFill>
                <a:latin typeface="Malgun Gothic"/>
              </a:rPr>
              <a:t>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17550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62E"/>
                </a:solidFill>
                <a:latin typeface="Malgun Gothic"/>
              </a:rPr>
              <a:t>경로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58568" y="4718304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28090"/>
                </a:solidFill>
                <a:latin typeface="Malgun Gothic"/>
              </a:rPr>
              <a:t>480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58568" y="517550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62E"/>
                </a:solidFill>
                <a:latin typeface="Malgun Gothic"/>
              </a:rPr>
              <a:t>시연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48456" y="4718304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28090"/>
                </a:solidFill>
                <a:latin typeface="Malgun Gothic"/>
              </a:rPr>
              <a:t>240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48456" y="517550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62E"/>
                </a:solidFill>
                <a:latin typeface="Malgun Gothic"/>
              </a:rPr>
              <a:t>주행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8344" y="4718304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28090"/>
                </a:solidFill>
                <a:latin typeface="Malgun Gothic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8344" y="517550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62E"/>
                </a:solidFill>
                <a:latin typeface="Malgun Gothic"/>
              </a:rPr>
              <a:t>표현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12280" y="1280160"/>
            <a:ext cx="4892040" cy="4343400"/>
          </a:xfrm>
          <a:prstGeom prst="roundRect">
            <a:avLst>
              <a:gd name="adj" fmla="val 8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1508760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28090"/>
                </a:solidFill>
                <a:latin typeface="Malgun Gothic"/>
              </a:rPr>
              <a:t>한 줄 결론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193852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96167"/>
                </a:solidFill>
                <a:latin typeface="Malgun Gothic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99248" y="1956816"/>
            <a:ext cx="3703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2761"/>
                </a:solidFill>
                <a:latin typeface="Malgun Gothic"/>
              </a:rPr>
              <a:t>VLM 표현이 oracle과 대등하다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9248" y="2267712"/>
            <a:ext cx="3703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22262E"/>
                </a:solidFill>
                <a:latin typeface="Malgun Gothic"/>
              </a:rPr>
              <a:t>거리·방향을 직접 받는 표현과의 차이가 통계적으로 구분되지 않는다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3072384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96167"/>
                </a:solidFill>
                <a:latin typeface="Malgun Gothic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9248" y="3090672"/>
            <a:ext cx="3703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2761"/>
                </a:solidFill>
                <a:latin typeface="Malgun Gothic"/>
              </a:rPr>
              <a:t>암기가 아니다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99248" y="3401568"/>
            <a:ext cx="3703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22262E"/>
                </a:solidFill>
                <a:latin typeface="Malgun Gothic"/>
              </a:rPr>
              <a:t>화면을 가리면 성공률 0, 멈추는 법조차 잃는다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206240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96167"/>
                </a:solidFill>
                <a:latin typeface="Malgun Gothic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9248" y="4224527"/>
            <a:ext cx="3703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2761"/>
                </a:solidFill>
                <a:latin typeface="Malgun Gothic"/>
              </a:rPr>
              <a:t>낮은 성공률의 절반은 기준 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99248" y="4535424"/>
            <a:ext cx="3703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22262E"/>
                </a:solidFill>
                <a:latin typeface="Malgun Gothic"/>
              </a:rPr>
              <a:t>실패 주행의 최종 거리 중앙값 0.14~0.19 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5138928"/>
            <a:ext cx="4343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00020"/>
                </a:solidFill>
                <a:latin typeface="Malgun Gothic"/>
              </a:rPr>
              <a:t>단, “연결 구조를 담고 있다”는 주장은 아직 지지되지 않음  ( junction p = 0.565 )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28090"/>
                </a:solidFill>
                <a:latin typeface="Malgun Gothic"/>
              </a:rPr>
              <a:t>1  ·  실험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61"/>
                </a:solidFill>
                <a:latin typeface="Malgun Gothic"/>
              </a:rPr>
              <a:t>출발점과 목표를 고정하고, 표현만 바꿔 비교했다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B7488"/>
                </a:solidFill>
                <a:latin typeface="Malgun Gothic"/>
              </a:rPr>
              <a:t>출처  phase3_fixed_route/experiment_results_fixed_route.md  §2   ·   routes.py, collect.py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62E"/>
                </a:solidFill>
                <a:latin typeface="Malgun Gothic"/>
              </a:rPr>
              <a:t>앞선 실험은 출발점과 목표가 매번 달라 성공률 0.08~0.17에 머물렀고, 표현·학습·과제 중 무엇이 원인인지 가릴 수 없었다. 그래서 문제를 가장 단순한 형태까지 줄였다.</a:t>
            </a:r>
          </a:p>
        </p:txBody>
      </p:sp>
      <p:pic>
        <p:nvPicPr>
          <p:cNvPr id="6" name="Picture 5" descr="f_two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9072"/>
            <a:ext cx="6903720" cy="280956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80960" y="1719072"/>
            <a:ext cx="4023360" cy="1517904"/>
          </a:xfrm>
          <a:prstGeom prst="roundRect">
            <a:avLst>
              <a:gd name="adj" fmla="val 8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73568" y="188366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Malgun Gothic"/>
              </a:rPr>
              <a:t>전문가 = 최단 경로 추종기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2212848"/>
            <a:ext cx="34747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22262E"/>
                </a:solidFill>
                <a:latin typeface="Malgun Gothic"/>
              </a:rPr>
              <a:t>통행 가능 영역에서 가장 가까운 목표 관찰 지점까지 최단 경로를 계산하고, 0.25 m 전진 · 30° 회전 중 가장 잘 전진시키는 행동을 고른다. 지도를 완전히 아는 절차.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3364992"/>
            <a:ext cx="4023360" cy="2103120"/>
          </a:xfrm>
          <a:prstGeom prst="roundRect">
            <a:avLst>
              <a:gd name="adj" fmla="val 8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3568" y="352958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Malgun Gothic"/>
              </a:rPr>
              <a:t>경로 선정 규칙 3종  ·  각 8경로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858768"/>
            <a:ext cx="1051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2761"/>
                </a:solidFill>
                <a:latin typeface="Malgun Gothic"/>
              </a:rPr>
              <a:t>random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34272" y="385876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262E"/>
                </a:solidFill>
                <a:latin typeface="Malgun Gothic"/>
              </a:rPr>
              <a:t>무작위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2992" y="3858768"/>
            <a:ext cx="148132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B7488"/>
                </a:solidFill>
                <a:latin typeface="Malgun Gothic"/>
              </a:rPr>
              <a:t>편향 없는 기본 조건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4389120"/>
            <a:ext cx="1051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2761"/>
                </a:solidFill>
                <a:latin typeface="Malgun Gothic"/>
              </a:rPr>
              <a:t>matched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4272" y="438912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262E"/>
                </a:solidFill>
                <a:latin typeface="Malgun Gothic"/>
              </a:rPr>
              <a:t>길이 5.2~6.0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2992" y="4389120"/>
            <a:ext cx="148132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B7488"/>
                </a:solidFill>
                <a:latin typeface="Malgun Gothic"/>
              </a:rPr>
              <a:t>난이도 통제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4919472"/>
            <a:ext cx="1051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2761"/>
                </a:solidFill>
                <a:latin typeface="Malgun Gothic"/>
              </a:rPr>
              <a:t>junction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4272" y="491947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262E"/>
                </a:solidFill>
                <a:latin typeface="Malgun Gothic"/>
              </a:rPr>
              <a:t>갈림길 다수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22992" y="4919472"/>
            <a:ext cx="148132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B7488"/>
                </a:solidFill>
                <a:latin typeface="Malgun Gothic"/>
              </a:rPr>
              <a:t>방향만으로는 못 푸는 조건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89320"/>
            <a:ext cx="6949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2761"/>
                </a:solidFill>
                <a:latin typeface="Malgun Gothic"/>
              </a:rPr>
              <a:t>경로당 20회 시연  ·  매번 출발 위치를 0.3 m · 15° 흔들어 행동 순서 암기를 차단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28090"/>
                </a:solidFill>
                <a:latin typeface="Malgun Gothic"/>
              </a:rPr>
              <a:t>2  ·  VLM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61"/>
                </a:solidFill>
                <a:latin typeface="Malgun Gothic"/>
              </a:rPr>
              <a:t>프레임 하나에서 20개 토큰을 꺼낸다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B7488"/>
                </a:solidFill>
                <a:latin typeface="Malgun Gothic"/>
              </a:rPr>
              <a:t>출처  vlm_topology_test/vlm_architecture.md   ·   phase3_fixed_route/encode.py</a:t>
            </a:r>
          </a:p>
        </p:txBody>
      </p:sp>
      <p:pic>
        <p:nvPicPr>
          <p:cNvPr id="5" name="Picture 4" descr="f_v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188720"/>
            <a:ext cx="10016159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28090"/>
                </a:solidFill>
                <a:latin typeface="Malgun Gothic"/>
              </a:rPr>
              <a:t>3  ·  실험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61"/>
                </a:solidFill>
                <a:latin typeface="Malgun Gothic"/>
              </a:rPr>
              <a:t>화면만 보는 정책이 거리·방향을 받는 정책과 대등하다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B7488"/>
                </a:solidFill>
                <a:latin typeface="Malgun Gothic"/>
              </a:rPr>
              <a:t>출처  phase3_fixed_route/experiment_results_fixed_route.md  §3.1   ·   results/rollout/*.json</a:t>
            </a:r>
          </a:p>
        </p:txBody>
      </p:sp>
      <p:pic>
        <p:nvPicPr>
          <p:cNvPr id="5" name="Picture 4" descr="f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70432"/>
            <a:ext cx="6720840" cy="25661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170432"/>
            <a:ext cx="4279392" cy="2395728"/>
          </a:xfrm>
          <a:prstGeom prst="roundRect">
            <a:avLst>
              <a:gd name="adj" fmla="val 8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353312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Malgun Gothic"/>
              </a:rPr>
              <a:t>달성률  =  정책 ÷ 전문가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664208"/>
            <a:ext cx="37490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22262E"/>
                </a:solidFill>
                <a:latin typeface="Malgun Gothic"/>
              </a:rPr>
              <a:t>전문가가 못 가는 경로는 정책도 못 가므로, 전문가 성공률로 나눠 비교한다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231136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488"/>
                </a:solidFill>
                <a:latin typeface="Malgun Gothic"/>
              </a:rPr>
              <a:t>규칙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2231136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488"/>
                </a:solidFill>
                <a:latin typeface="Malgun Gothic"/>
              </a:rPr>
              <a:t>oracle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2231136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28090"/>
                </a:solidFill>
                <a:latin typeface="Malgun Gothic"/>
              </a:rPr>
              <a:t>VLM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52374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62E"/>
                </a:solidFill>
                <a:latin typeface="Malgun Gothic"/>
              </a:rPr>
              <a:t>random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25237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62E"/>
                </a:solidFill>
                <a:latin typeface="Malgun Gothic"/>
              </a:rPr>
              <a:t>68 %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9880" y="25237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62E"/>
                </a:solidFill>
                <a:latin typeface="Malgun Gothic"/>
              </a:rPr>
              <a:t>60 %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834639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62E"/>
                </a:solidFill>
                <a:latin typeface="Malgun Gothic"/>
              </a:rPr>
              <a:t>matched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834639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62E"/>
                </a:solidFill>
                <a:latin typeface="Malgun Gothic"/>
              </a:rPr>
              <a:t>65 %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9880" y="2834639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62E"/>
                </a:solidFill>
                <a:latin typeface="Malgun Gothic"/>
              </a:rPr>
              <a:t>70 %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14553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2761"/>
                </a:solidFill>
                <a:latin typeface="Malgun Gothic"/>
              </a:rPr>
              <a:t>junction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314553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62E"/>
                </a:solidFill>
                <a:latin typeface="Malgun Gothic"/>
              </a:rPr>
              <a:t>31 %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69880" y="314553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28090"/>
                </a:solidFill>
                <a:latin typeface="Malgun Gothic"/>
              </a:rPr>
              <a:t>45 %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3703320"/>
            <a:ext cx="4279392" cy="932688"/>
          </a:xfrm>
          <a:prstGeom prst="roundRect">
            <a:avLst>
              <a:gd name="adj" fmla="val 8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79" y="3877056"/>
            <a:ext cx="374903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B00020"/>
                </a:solidFill>
                <a:latin typeface="Malgun Gothic"/>
              </a:rPr>
              <a:t>junction 우세(+14 %p)는 경로 두 개가 반대로 움직인 결과이며 p = 0.565 — 아직 증거가 아니다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4828032"/>
            <a:ext cx="4279392" cy="1408176"/>
          </a:xfrm>
          <a:prstGeom prst="roundRect">
            <a:avLst>
              <a:gd name="adj" fmla="val 8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4992624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28090"/>
                </a:solidFill>
                <a:latin typeface="Malgun Gothic"/>
              </a:rPr>
              <a:t>0.25 m 기준을 함께 보는 이유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03520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22262E"/>
                </a:solidFill>
                <a:latin typeface="Malgun Gothic"/>
              </a:rPr>
              <a:t>0.1 m는 Habitat·선행 연구의 표준이라 유지하되, 전진 한 걸음에 해당하는 0.25 m를 병기하면 길찾기 능력과 정지 정밀도가 분리되어 보인다.</a:t>
            </a:r>
          </a:p>
        </p:txBody>
      </p:sp>
      <p:pic>
        <p:nvPicPr>
          <p:cNvPr id="26" name="Picture 25" descr="m_junc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0"/>
            <a:ext cx="1810512" cy="181051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02920" y="5742432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Malgun Gothic"/>
              </a:rPr>
              <a:t>junction · 화분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98464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28090"/>
                </a:solidFill>
                <a:latin typeface="Malgun Gothic"/>
              </a:rPr>
              <a:t>oracle 0/5 → VLM 4/5</a:t>
            </a:r>
          </a:p>
        </p:txBody>
      </p:sp>
      <p:pic>
        <p:nvPicPr>
          <p:cNvPr id="29" name="Picture 28" descr="m_rand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39" y="3840480"/>
            <a:ext cx="1810512" cy="181051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834639" y="5742432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Malgun Gothic"/>
              </a:rPr>
              <a:t>random · 텔레비전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39" y="5998464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E2761"/>
                </a:solidFill>
                <a:latin typeface="Malgun Gothic"/>
              </a:rPr>
              <a:t>둘 다 4/5 · 정상 작동</a:t>
            </a:r>
          </a:p>
        </p:txBody>
      </p:sp>
      <p:pic>
        <p:nvPicPr>
          <p:cNvPr id="32" name="Picture 31" descr="m_rand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59" y="3840480"/>
            <a:ext cx="1810512" cy="181051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166359" y="5742432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Malgun Gothic"/>
              </a:rPr>
              <a:t>random · 변기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59" y="5998464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96167"/>
                </a:solidFill>
                <a:latin typeface="Malgun Gothic"/>
              </a:rPr>
              <a:t>oracle 4/5 → VLM 2/5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28090"/>
                </a:solidFill>
                <a:latin typeface="Malgun Gothic"/>
              </a:rPr>
              <a:t>4  ·  암기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61"/>
                </a:solidFill>
                <a:latin typeface="Malgun Gothic"/>
              </a:rPr>
              <a:t>학습 정확도 0.99는 암기가 아니었다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B7488"/>
                </a:solidFill>
                <a:latin typeface="Malgun Gothic"/>
              </a:rPr>
              <a:t>출처  phase3_fixed_route/experiment_results_fixed_route.md  §3.2   ·   evaluate.py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52144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62E"/>
                </a:solidFill>
                <a:latin typeface="Malgun Gothic"/>
              </a:rPr>
              <a:t>VLM 정책은 프레임당 숫자 40,960개를 받는데 시연은 160개뿐 — 시연을 통째로 외웠을 가능성을 의심할 근거가 있었다. 같은 주행을 관찰만 바꿔 반복해 판정했다.</a:t>
            </a:r>
          </a:p>
        </p:txBody>
      </p:sp>
      <p:pic>
        <p:nvPicPr>
          <p:cNvPr id="6" name="Picture 5" descr="f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6355080" cy="326115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691640"/>
            <a:ext cx="4599432" cy="2121408"/>
          </a:xfrm>
          <a:prstGeom prst="roundRect">
            <a:avLst>
              <a:gd name="adj" fmla="val 8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4927" y="1874519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Malgun Gothic"/>
              </a:rPr>
              <a:t>실제 주행 한 건의 행동 나열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4927" y="2249424"/>
            <a:ext cx="4023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28090"/>
                </a:solidFill>
                <a:latin typeface="Malgun Gothic"/>
              </a:rPr>
              <a:t>진짜 화면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2262E"/>
                </a:solidFill>
                <a:latin typeface="Malgun Gothic"/>
              </a:rPr>
              <a:t>17 스텝  ·  좌회전 5 · 전진 8 · 우회전 3 · 정지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2944368"/>
            <a:ext cx="4023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B00020"/>
                </a:solidFill>
                <a:latin typeface="Malgun Gothic"/>
              </a:rPr>
              <a:t>회색 화면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2262E"/>
                </a:solidFill>
                <a:latin typeface="Malgun Gothic"/>
              </a:rPr>
              <a:t>250 스텝  ·  우회전 250번  ·  정지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3977639"/>
            <a:ext cx="4599432" cy="1417320"/>
          </a:xfrm>
          <a:prstGeom prst="roundRect">
            <a:avLst>
              <a:gd name="adj" fmla="val 8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24927" y="4160520"/>
            <a:ext cx="40233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2262E"/>
                </a:solidFill>
                <a:latin typeface="Malgun Gothic"/>
              </a:rPr>
              <a:t>경로를 외운 정책이라면 화면을 가려도 같은 행동 순서가 나와야 한다. 그렇지 않을 뿐 아니라 정지 행동을 내는 능력까지 잃는다 — 관찰을 실제로 읽고 있다는 뜻이다.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669280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2761"/>
                </a:solidFill>
                <a:latin typeface="Malgun Gothic"/>
              </a:rPr>
              <a:t>세 규칙 모두 회색·대체 화면에서 성공률 0.000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28090"/>
                </a:solidFill>
                <a:latin typeface="Malgun Gothic"/>
              </a:rPr>
              <a:t>5  ·  성패를 가른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61"/>
                </a:solidFill>
                <a:latin typeface="Malgun Gothic"/>
              </a:rPr>
              <a:t>길찾기가 아니라 0.1 m 안에 설 자리가 있느냐의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B7488"/>
                </a:solidFill>
                <a:latin typeface="Malgun Gothic"/>
              </a:rPr>
              <a:t>출처  phase3_fixed_route/experiment_results_fixed_route.md  §3.4   ·   route_maps.md</a:t>
            </a:r>
          </a:p>
        </p:txBody>
      </p:sp>
      <p:pic>
        <p:nvPicPr>
          <p:cNvPr id="5" name="Picture 4" descr="f_fail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5065253" cy="2395728"/>
          </a:xfrm>
          <a:prstGeom prst="rect">
            <a:avLst/>
          </a:prstGeom>
        </p:spPr>
      </p:pic>
      <p:pic>
        <p:nvPicPr>
          <p:cNvPr id="6" name="Picture 5" descr="f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785615"/>
            <a:ext cx="5065253" cy="23957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46520" y="1170432"/>
            <a:ext cx="5285232" cy="1938528"/>
          </a:xfrm>
          <a:prstGeom prst="roundRect">
            <a:avLst>
              <a:gd name="adj" fmla="val 8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35331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Malgun Gothic"/>
              </a:rPr>
              <a:t>왜 이런 일이 생기나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682496"/>
            <a:ext cx="4754880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22262E"/>
                </a:solidFill>
                <a:latin typeface="Malgun Gothic"/>
              </a:rPr>
              <a:t>에이전트는 0.25 m 전진과 30° 회전만 할 수 있어 설 수 있는 자리가 격자를 이룬다. 목표 관찰 지점은 그 격자와 무관하게 놓여 있다.
가장 가까운 격자점이 0.1 m 안이면 그 경로는 항상 성공, 밖이면 항상 실패한다. 24개 경로 중 9개에서 전문가조차 20회 모두 실패했다.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3520440"/>
            <a:ext cx="5285232" cy="2331720"/>
          </a:xfrm>
          <a:prstGeom prst="roundRect">
            <a:avLst>
              <a:gd name="adj" fmla="val 8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368503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00020"/>
                </a:solidFill>
                <a:latin typeface="Malgun Gothic"/>
              </a:rPr>
              <a:t>결정적 한 컷  ·  random / 변기</a:t>
            </a:r>
          </a:p>
        </p:txBody>
      </p:sp>
      <p:pic>
        <p:nvPicPr>
          <p:cNvPr id="12" name="Picture 11" descr="m_rand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005072"/>
            <a:ext cx="2395728" cy="1801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53728" y="4133087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262E"/>
                </a:solidFill>
                <a:latin typeface="Malgun Gothic"/>
              </a:rPr>
              <a:t>전문가 도달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35056" y="4133087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E2761"/>
                </a:solidFill>
                <a:latin typeface="Malgun Gothic"/>
              </a:rPr>
              <a:t>0 /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8" y="4535424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262E"/>
                </a:solidFill>
                <a:latin typeface="Malgun Gothic"/>
              </a:rPr>
              <a:t>전문가 정지 거리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35056" y="453542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E2761"/>
                </a:solidFill>
                <a:latin typeface="Malgun Gothic"/>
              </a:rPr>
              <a:t>0.110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4937759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262E"/>
                </a:solidFill>
                <a:latin typeface="Malgun Gothic"/>
              </a:rPr>
              <a:t>VLM  @ 0.1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35056" y="4937759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E2761"/>
                </a:solidFill>
                <a:latin typeface="Malgun Gothic"/>
              </a:rPr>
              <a:t>0 /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5340096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262E"/>
                </a:solidFill>
                <a:latin typeface="Malgun Gothic"/>
              </a:rPr>
              <a:t>VLM  @ 0.25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35056" y="534009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B00020"/>
                </a:solidFill>
                <a:latin typeface="Malgun Gothic"/>
              </a:rPr>
              <a:t>5 /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5779008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0020"/>
                </a:solidFill>
                <a:latin typeface="Malgun Gothic"/>
              </a:rPr>
              <a:t>매번 도착했는데 0점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28090"/>
                </a:solidFill>
                <a:latin typeface="Malgun Gothic"/>
              </a:rPr>
              <a:t>6  ·  다음 단계 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61"/>
                </a:solidFill>
                <a:latin typeface="Malgun Gothic"/>
              </a:rPr>
              <a:t>추출할 토큰과 압축 방식을 바꿔 성능을 비교한다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B7488"/>
                </a:solidFill>
                <a:latin typeface="Malgun Gothic"/>
              </a:rPr>
              <a:t>출처  vlm_topology_test/vlm_architecture.md  §5   ·   phase3_fixed_route/encode.py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5214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62E"/>
                </a:solidFill>
                <a:latin typeface="Malgun Gothic"/>
              </a:rPr>
              <a:t>지금의 4×4 격자와 4등분 평균은 우리가 손으로 정한 압축이다. 무엇이 중요한지 모르는 상태에서 정했고, 중요한 것을 버렸을 수 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6903720" cy="1024128"/>
          </a:xfrm>
          <a:prstGeom prst="roundRect">
            <a:avLst>
              <a:gd name="adj" fmla="val 8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1883664"/>
            <a:ext cx="237744" cy="237744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83664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96167"/>
                </a:solidFill>
                <a:latin typeface="Malgun Gothic"/>
              </a:rPr>
              <a:t>발견된 결함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60350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22262E"/>
                </a:solidFill>
                <a:latin typeface="Malgun Gothic"/>
              </a:rPr>
              <a:t>질문 13토큰은 고정인데 답변은 9~21토큰으로 변한다. 길이로 4등분하면 덩어리 경계가 프레임마다 움직이고, 판정을 담은 첫 답변 토큰(No/Yes)이 매번 다른 자리에 들어간다.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26080"/>
            <a:ext cx="6903720" cy="1024128"/>
          </a:xfrm>
          <a:prstGeom prst="roundRect">
            <a:avLst>
              <a:gd name="adj" fmla="val 8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072384"/>
            <a:ext cx="237744" cy="23774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72384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Malgun Gothic"/>
              </a:rPr>
              <a:t>가설 · 행동 공간 정렬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83280"/>
            <a:ext cx="60350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22262E"/>
                </a:solidFill>
                <a:latin typeface="Malgun Gothic"/>
              </a:rPr>
              <a:t>행동은 전진·좌회전·우회전, 즉 수평 방향 결정이다. 4×4 격자는 세로에 절반을 쓴다. 화각 90°를 가로로 5등분하면 한 칸 18°로 회전 단위 30°와 자릿수가 맞는다.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14800"/>
            <a:ext cx="6903720" cy="1024128"/>
          </a:xfrm>
          <a:prstGeom prst="roundRect">
            <a:avLst>
              <a:gd name="adj" fmla="val 8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261104"/>
            <a:ext cx="237744" cy="23774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61104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Malgun Gothic"/>
              </a:rPr>
              <a:t>논문과의 격차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72000"/>
            <a:ext cx="60350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22262E"/>
                </a:solidFill>
                <a:latin typeface="Malgun Gothic"/>
              </a:rPr>
              <a:t>선행 연구는 질문·답변의 모든 위치를 정책에 넘긴다. 우리는 4개로 압축했고, 이미지 토큰은 목표와 무관하므로 목표 조건화 전부를 그 4개가 짊어진다.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1737360"/>
            <a:ext cx="4041648" cy="3584448"/>
          </a:xfrm>
          <a:prstGeom prst="roundRect">
            <a:avLst>
              <a:gd name="adj" fmla="val 8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73568" y="192024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Malgun Gothic"/>
              </a:rPr>
              <a:t>비교할 조건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23042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Malgun Gothic"/>
              </a:rPr>
              <a:t>전체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30428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2262E"/>
                </a:solidFill>
                <a:latin typeface="Malgun Gothic"/>
              </a:rPr>
              <a:t>이미지 16 + 텍스트 4  (현재)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27614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Malgun Gothic"/>
              </a:rPr>
              <a:t>이미지만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76148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2262E"/>
                </a:solidFill>
                <a:latin typeface="Malgun Gothic"/>
              </a:rPr>
              <a:t>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8" y="32186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Malgun Gothic"/>
              </a:rPr>
              <a:t>텍스트만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21868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2262E"/>
                </a:solidFill>
                <a:latin typeface="Malgun 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3675887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Malgun Gothic"/>
              </a:rPr>
              <a:t>텍스트 뒤쪽만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675887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2262E"/>
                </a:solidFill>
                <a:latin typeface="Malgun Gothic"/>
              </a:rPr>
              <a:t>2  (정보가 풍부한 쪽)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3568" y="4133087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Malgun Gothic"/>
              </a:rPr>
              <a:t>이미지 수평 밴드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4133087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2262E"/>
                </a:solidFill>
                <a:latin typeface="Malgun Gothic"/>
              </a:rPr>
              <a:t>1×5 / 2×5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3568" y="45902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Malgun Gothic"/>
              </a:rPr>
              <a:t>텍스트 확대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459028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2262E"/>
                </a:solidFill>
                <a:latin typeface="Malgun Gothic"/>
              </a:rPr>
              <a:t>8 / 16 / 전부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80960" y="5468112"/>
            <a:ext cx="4041648" cy="786384"/>
          </a:xfrm>
          <a:prstGeom prst="roundRect">
            <a:avLst>
              <a:gd name="adj" fmla="val 8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73568" y="5614416"/>
            <a:ext cx="34747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28090"/>
                </a:solidFill>
                <a:latin typeface="Malgun Gothic"/>
              </a:rPr>
              <a:t>주성분분석은 선형이라 풀링과 순서를 바꿔도 결과가 같다 → 한 번 인코딩해 두면 위치 변형이 전부 공짜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28090"/>
                </a:solidFill>
                <a:latin typeface="Malgun Gothic"/>
              </a:rPr>
              <a:t>6  ·  다음 단계 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Malgun Gothic"/>
              </a:rPr>
              <a:t>학습에 쓰지 않은 경로에서 길을 찾는지 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7C88AC"/>
                </a:solidFill>
                <a:latin typeface="Malgun Gothic"/>
              </a:rPr>
              <a:t>출처  phase3_fixed_route/experiment_results_fixed_route.md  §5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5214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ADCFC"/>
                </a:solidFill>
                <a:latin typeface="Malgun Gothic"/>
              </a:rPr>
              <a:t>이번 실험은 같은 24개 경로에서 학습하고 평가했다. 처음 보는 공간에서의 성능은 전혀 알 수 없다.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55648"/>
            <a:ext cx="5532120" cy="1755648"/>
          </a:xfrm>
          <a:prstGeom prst="roundRect">
            <a:avLst>
              <a:gd name="adj" fmla="val 8000"/>
            </a:avLst>
          </a:prstGeom>
          <a:solidFill>
            <a:srgbClr val="2A3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38528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28090"/>
                </a:solidFill>
                <a:latin typeface="Malgun Gothic"/>
              </a:rPr>
              <a:t>지금의 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04288"/>
            <a:ext cx="48920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FFFFFF"/>
                </a:solidFill>
                <a:latin typeface="Malgun Gothic"/>
              </a:rPr>
              <a:t>경로가 8개뿐이라 10 %p 수준의 차이를 가릴 통계적 힘이 없다. junction의 p = 0.565가 그 결과다.
경로 안의 5회 반복은 출발점만 다른 반복이라 거의 결정적이어서 정보를 더하지 않는다.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55648"/>
            <a:ext cx="5413248" cy="1755648"/>
          </a:xfrm>
          <a:prstGeom prst="roundRect">
            <a:avLst>
              <a:gd name="adj" fmla="val 8000"/>
            </a:avLst>
          </a:prstGeom>
          <a:solidFill>
            <a:srgbClr val="2A3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38528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28090"/>
                </a:solidFill>
                <a:latin typeface="Malgun Gothic"/>
              </a:rPr>
              <a:t>해야 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304288"/>
            <a:ext cx="47548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FFFFFF"/>
                </a:solidFill>
                <a:latin typeface="Malgun Gothic"/>
              </a:rPr>
              <a:t>반복 횟수가 아니라 경로 수를 30~40개로 늘린다. 같은 계산량 대비 훨씬 효율적이다.
학습 경로와 평가 경로를 분리해 일반화를 직접 측정한다. 선행 연구는 80장면 학습 / 미지의 20장면 평가.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03904"/>
            <a:ext cx="11219688" cy="1572768"/>
          </a:xfrm>
          <a:prstGeom prst="roundRect">
            <a:avLst>
              <a:gd name="adj" fmla="val 8000"/>
            </a:avLst>
          </a:prstGeom>
          <a:solidFill>
            <a:srgbClr val="141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0507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6167"/>
                </a:solidFill>
                <a:latin typeface="Malgun Gothic"/>
              </a:rPr>
              <a:t>우선순위 — 토큰 절제를 먼저 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70832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28090"/>
                </a:solidFill>
                <a:latin typeface="Malgun Gothic"/>
              </a:rPr>
              <a:t>토큰 절제 ①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Malgun Gothic"/>
              </a:rPr>
              <a:t>재인코딩 불필요 · 학습과 평가만 · 표현 설계에 바로 쓸 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370832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7C88AC"/>
                </a:solidFill>
                <a:latin typeface="Malgun Gothic"/>
              </a:rPr>
              <a:t>경로 확장 ②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CADCFC"/>
                </a:solidFill>
                <a:latin typeface="Malgun Gothic"/>
              </a:rPr>
              <a:t>재수집·재인코딩 전부 · 15시간 이상 · 그래도 통계적 힘은 부족할 수 있음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669280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ADCFC"/>
                </a:solidFill>
                <a:latin typeface="Malgun Gothic"/>
              </a:rPr>
              <a:t>두 방향 모두 필요하지만, 비용 대비 답의 선명도에서 토큰 절제가 앞선다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